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9"/>
  </p:notesMasterIdLst>
  <p:sldIdLst>
    <p:sldId id="256" r:id="rId2"/>
    <p:sldId id="258" r:id="rId3"/>
    <p:sldId id="297" r:id="rId4"/>
    <p:sldId id="300" r:id="rId5"/>
    <p:sldId id="298" r:id="rId6"/>
    <p:sldId id="268" r:id="rId7"/>
    <p:sldId id="299" r:id="rId8"/>
  </p:sldIdLst>
  <p:sldSz cx="9144000" cy="5143500" type="screen16x9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SemiBold" panose="000007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EB1300-2365-48AD-8A67-534DFFD597A1}">
  <a:tblStyle styleId="{49EB1300-2365-48AD-8A67-534DFFD597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9863920-CF87-4849-B7CC-958A19C1CB5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76521" autoAdjust="0"/>
  </p:normalViewPr>
  <p:slideViewPr>
    <p:cSldViewPr snapToGrid="0">
      <p:cViewPr>
        <p:scale>
          <a:sx n="80" d="100"/>
          <a:sy n="80" d="100"/>
        </p:scale>
        <p:origin x="912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Lepo </a:t>
            </a:r>
            <a:r>
              <a:rPr lang="en-GB" dirty="0" err="1"/>
              <a:t>pozdravljeni</a:t>
            </a:r>
            <a:r>
              <a:rPr lang="en-GB" dirty="0"/>
              <a:t> mi </a:t>
            </a:r>
            <a:r>
              <a:rPr lang="en-GB" dirty="0" err="1"/>
              <a:t>smo</a:t>
            </a:r>
            <a:r>
              <a:rPr lang="en-GB" dirty="0"/>
              <a:t> </a:t>
            </a:r>
            <a:r>
              <a:rPr lang="en-GB" dirty="0" err="1"/>
              <a:t>iva</a:t>
            </a:r>
            <a:r>
              <a:rPr lang="en-GB" dirty="0"/>
              <a:t> Nenad </a:t>
            </a:r>
            <a:r>
              <a:rPr lang="en-GB" dirty="0" err="1"/>
              <a:t>kika</a:t>
            </a:r>
            <a:r>
              <a:rPr lang="en-GB" dirty="0"/>
              <a:t> in </a:t>
            </a:r>
            <a:r>
              <a:rPr lang="en-GB" dirty="0" err="1"/>
              <a:t>danas</a:t>
            </a:r>
            <a:r>
              <a:rPr lang="en-GB" dirty="0"/>
              <a:t> </a:t>
            </a:r>
            <a:r>
              <a:rPr lang="en-GB" dirty="0" err="1"/>
              <a:t>vam</a:t>
            </a:r>
            <a:r>
              <a:rPr lang="en-GB" dirty="0"/>
              <a:t> </a:t>
            </a:r>
            <a:r>
              <a:rPr lang="en-GB" dirty="0" err="1"/>
              <a:t>bomo</a:t>
            </a:r>
            <a:r>
              <a:rPr lang="en-GB" dirty="0"/>
              <a:t> </a:t>
            </a:r>
            <a:r>
              <a:rPr lang="en-GB" dirty="0" err="1"/>
              <a:t>redstavili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pametni</a:t>
            </a:r>
            <a:r>
              <a:rPr lang="en-GB" dirty="0"/>
              <a:t> </a:t>
            </a:r>
            <a:r>
              <a:rPr lang="en-GB" dirty="0" err="1"/>
              <a:t>iskalnik</a:t>
            </a:r>
            <a:r>
              <a:rPr lang="en-GB" dirty="0"/>
              <a:t> </a:t>
            </a:r>
            <a:r>
              <a:rPr lang="en-GB" dirty="0" err="1"/>
              <a:t>yaposlitvebih</a:t>
            </a:r>
            <a:r>
              <a:rPr lang="en-GB" dirty="0"/>
              <a:t> </a:t>
            </a:r>
            <a:r>
              <a:rPr lang="en-GB" dirty="0" err="1"/>
              <a:t>priloznositi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5594c9d97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5594c9d97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dirty="0" err="1"/>
              <a:t>Predstavljajte</a:t>
            </a:r>
            <a:r>
              <a:rPr lang="en-SI" dirty="0"/>
              <a:t> </a:t>
            </a:r>
            <a:r>
              <a:rPr lang="en-SI" dirty="0" err="1"/>
              <a:t>si</a:t>
            </a:r>
            <a:r>
              <a:rPr lang="en-SI" dirty="0"/>
              <a:t> </a:t>
            </a:r>
            <a:r>
              <a:rPr lang="en-SI" dirty="0" err="1"/>
              <a:t>Nenada</a:t>
            </a:r>
            <a:r>
              <a:rPr lang="en-SI" dirty="0"/>
              <a:t>, </a:t>
            </a:r>
            <a:r>
              <a:rPr lang="en-SI" dirty="0" err="1"/>
              <a:t>študenta</a:t>
            </a:r>
            <a:r>
              <a:rPr lang="en-SI" dirty="0"/>
              <a:t> </a:t>
            </a:r>
            <a:r>
              <a:rPr lang="en-SI" dirty="0" err="1"/>
              <a:t>informatike</a:t>
            </a:r>
            <a:r>
              <a:rPr lang="en-SI" dirty="0"/>
              <a:t>, ki </a:t>
            </a:r>
            <a:r>
              <a:rPr lang="en-SI" dirty="0" err="1"/>
              <a:t>išče</a:t>
            </a:r>
            <a:r>
              <a:rPr lang="en-SI" dirty="0"/>
              <a:t> </a:t>
            </a:r>
            <a:r>
              <a:rPr lang="en-SI" dirty="0" err="1"/>
              <a:t>zaposlitev</a:t>
            </a:r>
            <a:r>
              <a:rPr lang="en-SI" dirty="0"/>
              <a:t>. </a:t>
            </a:r>
            <a:r>
              <a:rPr lang="en-SI" dirty="0" err="1"/>
              <a:t>Oglase</a:t>
            </a:r>
            <a:r>
              <a:rPr lang="en-SI" dirty="0"/>
              <a:t> </a:t>
            </a:r>
            <a:r>
              <a:rPr lang="en-SI" dirty="0" err="1"/>
              <a:t>išče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različnih</a:t>
            </a:r>
            <a:r>
              <a:rPr lang="en-SI" dirty="0"/>
              <a:t> </a:t>
            </a:r>
            <a:r>
              <a:rPr lang="en-SI" dirty="0" err="1"/>
              <a:t>portalih</a:t>
            </a:r>
            <a:r>
              <a:rPr lang="en-SI" dirty="0"/>
              <a:t>, </a:t>
            </a:r>
            <a:r>
              <a:rPr lang="en-SI" dirty="0" err="1"/>
              <a:t>vsak</a:t>
            </a:r>
            <a:r>
              <a:rPr lang="en-SI" dirty="0"/>
              <a:t> portal </a:t>
            </a:r>
            <a:r>
              <a:rPr lang="en-SI" dirty="0" err="1"/>
              <a:t>uporablja</a:t>
            </a:r>
            <a:r>
              <a:rPr lang="en-SI" dirty="0"/>
              <a:t> </a:t>
            </a:r>
            <a:r>
              <a:rPr lang="en-SI" dirty="0" err="1"/>
              <a:t>drugačne</a:t>
            </a:r>
            <a:r>
              <a:rPr lang="en-SI" dirty="0"/>
              <a:t> </a:t>
            </a:r>
            <a:r>
              <a:rPr lang="en-SI" dirty="0" err="1"/>
              <a:t>filtre</a:t>
            </a:r>
            <a:r>
              <a:rPr lang="en-SI" dirty="0"/>
              <a:t>, za </a:t>
            </a:r>
            <a:r>
              <a:rPr lang="en-SI" dirty="0" err="1"/>
              <a:t>enake</a:t>
            </a:r>
            <a:r>
              <a:rPr lang="en-SI" dirty="0"/>
              <a:t> </a:t>
            </a:r>
            <a:r>
              <a:rPr lang="en-SI" dirty="0" err="1"/>
              <a:t>kompetence</a:t>
            </a:r>
            <a:r>
              <a:rPr lang="en-SI" dirty="0"/>
              <a:t> pa se </a:t>
            </a:r>
            <a:r>
              <a:rPr lang="en-SI" dirty="0" err="1"/>
              <a:t>pogosto</a:t>
            </a:r>
            <a:r>
              <a:rPr lang="en-SI" dirty="0"/>
              <a:t> </a:t>
            </a:r>
            <a:r>
              <a:rPr lang="en-SI" dirty="0" err="1"/>
              <a:t>uporabljajo</a:t>
            </a:r>
            <a:r>
              <a:rPr lang="en-SI" dirty="0"/>
              <a:t> </a:t>
            </a:r>
            <a:r>
              <a:rPr lang="en-SI" dirty="0" err="1"/>
              <a:t>različni</a:t>
            </a:r>
            <a:r>
              <a:rPr lang="en-SI" dirty="0"/>
              <a:t> </a:t>
            </a:r>
            <a:r>
              <a:rPr lang="en-SI" dirty="0" err="1"/>
              <a:t>izrazi</a:t>
            </a:r>
            <a:r>
              <a:rPr lang="en-SI" dirty="0"/>
              <a:t>. Poleg </a:t>
            </a:r>
            <a:r>
              <a:rPr lang="en-SI" dirty="0" err="1"/>
              <a:t>tega</a:t>
            </a:r>
            <a:r>
              <a:rPr lang="en-SI" dirty="0"/>
              <a:t> </a:t>
            </a:r>
            <a:r>
              <a:rPr lang="en-SI" dirty="0" err="1"/>
              <a:t>podatki</a:t>
            </a:r>
            <a:r>
              <a:rPr lang="en-SI" dirty="0"/>
              <a:t> o </a:t>
            </a:r>
            <a:r>
              <a:rPr lang="en-SI" dirty="0" err="1"/>
              <a:t>plači</a:t>
            </a:r>
            <a:r>
              <a:rPr lang="en-SI" dirty="0"/>
              <a:t> </a:t>
            </a:r>
            <a:r>
              <a:rPr lang="en-SI" dirty="0" err="1"/>
              <a:t>velikokrat</a:t>
            </a:r>
            <a:r>
              <a:rPr lang="en-SI" dirty="0"/>
              <a:t> </a:t>
            </a:r>
            <a:r>
              <a:rPr lang="en-SI" dirty="0" err="1"/>
              <a:t>manjkajo</a:t>
            </a:r>
            <a:r>
              <a:rPr lang="en-SI" dirty="0"/>
              <a:t>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uri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iskanja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ima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odprtih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deset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zavihkov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vendar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še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vedno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ne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katera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zaposlitev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mu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najbolj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ustreza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Problem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pomanjkanje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oglasov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ampak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to, da so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podatki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razdrobljeni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težko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primerljivi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Zato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razvili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JobRadar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30 sec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F8D2E0E1-C1F5-FD14-EF13-B159BE90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53ad14bb1_0_75:notes">
            <a:extLst>
              <a:ext uri="{FF2B5EF4-FFF2-40B4-BE49-F238E27FC236}">
                <a16:creationId xmlns:a16="http://schemas.microsoft.com/office/drawing/2014/main" id="{3EFB3B95-D91B-8953-59AE-B7CCD1731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553ad14bb1_0_75:notes">
            <a:extLst>
              <a:ext uri="{FF2B5EF4-FFF2-40B4-BE49-F238E27FC236}">
                <a16:creationId xmlns:a16="http://schemas.microsoft.com/office/drawing/2014/main" id="{5039D7C5-7684-6BC6-07D8-214E42493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JobRadar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je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platforma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ki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enem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mestu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združuje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zaposlitvene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oglase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iz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različnih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virov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Zaposlitev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lahko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poiščemo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tako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da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svojo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željo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opišemo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z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običajnim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stavkom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naložimo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svoj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CV in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prejmemo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predloge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glede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svoje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veščine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znanje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izkušnje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Ob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rezultatih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dobimo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tudi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oceno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pričakovanega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plačnega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razpona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najbolj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zanimive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ponudbe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lahko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seboj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primerjamo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Z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zemljevidom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analitiko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nato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dobimo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še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širši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vpogled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zaposlitvene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priložnosti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najbolj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iskane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veščine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SI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trgu</a:t>
            </a:r>
            <a:r>
              <a:rPr lang="en-SI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dela.</a:t>
            </a:r>
          </a:p>
        </p:txBody>
      </p:sp>
    </p:spTree>
    <p:extLst>
      <p:ext uri="{BB962C8B-B14F-4D97-AF65-F5344CB8AC3E}">
        <p14:creationId xmlns:p14="http://schemas.microsoft.com/office/powerpoint/2010/main" val="695900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FBE5ADBC-E6FF-93F0-85FC-513E551F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53ad14bb1_0_75:notes">
            <a:extLst>
              <a:ext uri="{FF2B5EF4-FFF2-40B4-BE49-F238E27FC236}">
                <a16:creationId xmlns:a16="http://schemas.microsoft.com/office/drawing/2014/main" id="{AAA98AF2-83A1-2789-1E9B-F248EC9C8B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553ad14bb1_0_75:notes">
            <a:extLst>
              <a:ext uri="{FF2B5EF4-FFF2-40B4-BE49-F238E27FC236}">
                <a16:creationId xmlns:a16="http://schemas.microsoft.com/office/drawing/2014/main" id="{0C5F8626-DF73-EFAB-B580-14D554B6D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I" dirty="0"/>
              <a:t>Pred </a:t>
            </a:r>
            <a:r>
              <a:rPr lang="en-SI" dirty="0" err="1"/>
              <a:t>demonstracijo</a:t>
            </a:r>
            <a:r>
              <a:rPr lang="en-SI" dirty="0"/>
              <a:t> bi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kratko</a:t>
            </a:r>
            <a:r>
              <a:rPr lang="en-SI" dirty="0"/>
              <a:t> </a:t>
            </a:r>
            <a:r>
              <a:rPr lang="en-SI" dirty="0" err="1"/>
              <a:t>pokazali</a:t>
            </a:r>
            <a:r>
              <a:rPr lang="en-SI" dirty="0"/>
              <a:t> </a:t>
            </a:r>
            <a:r>
              <a:rPr lang="en-SI" dirty="0" err="1"/>
              <a:t>še</a:t>
            </a:r>
            <a:r>
              <a:rPr lang="en-SI" dirty="0"/>
              <a:t> </a:t>
            </a:r>
            <a:r>
              <a:rPr lang="en-SI" dirty="0" err="1"/>
              <a:t>arhitekturo</a:t>
            </a:r>
            <a:r>
              <a:rPr lang="en-SI" dirty="0"/>
              <a:t> </a:t>
            </a:r>
            <a:r>
              <a:rPr lang="en-SI" dirty="0" err="1"/>
              <a:t>JobRadarja</a:t>
            </a:r>
            <a:r>
              <a:rPr lang="en-SI" dirty="0"/>
              <a:t>.</a:t>
            </a:r>
            <a:br>
              <a:rPr lang="en-SI" dirty="0"/>
            </a:br>
            <a:r>
              <a:rPr lang="en-SI" dirty="0"/>
              <a:t>V </a:t>
            </a:r>
            <a:r>
              <a:rPr lang="en-SI" dirty="0" err="1"/>
              <a:t>ozadju</a:t>
            </a:r>
            <a:r>
              <a:rPr lang="en-SI" dirty="0"/>
              <a:t> </a:t>
            </a:r>
            <a:r>
              <a:rPr lang="en-SI" dirty="0" err="1"/>
              <a:t>aplikacija</a:t>
            </a:r>
            <a:r>
              <a:rPr lang="en-SI" dirty="0"/>
              <a:t> </a:t>
            </a:r>
            <a:r>
              <a:rPr lang="en-SI" dirty="0" err="1"/>
              <a:t>deluje</a:t>
            </a:r>
            <a:r>
              <a:rPr lang="en-SI" dirty="0"/>
              <a:t> </a:t>
            </a:r>
            <a:r>
              <a:rPr lang="en-SI" dirty="0" err="1"/>
              <a:t>kot</a:t>
            </a:r>
            <a:r>
              <a:rPr lang="en-SI" dirty="0"/>
              <a:t> </a:t>
            </a:r>
            <a:r>
              <a:rPr lang="en-SI" dirty="0" err="1"/>
              <a:t>več</a:t>
            </a:r>
            <a:r>
              <a:rPr lang="en-SI" dirty="0"/>
              <a:t> </a:t>
            </a:r>
            <a:r>
              <a:rPr lang="en-SI" dirty="0" err="1"/>
              <a:t>povezanih</a:t>
            </a:r>
            <a:r>
              <a:rPr lang="en-SI" dirty="0"/>
              <a:t> </a:t>
            </a:r>
            <a:r>
              <a:rPr lang="en-SI" dirty="0" err="1"/>
              <a:t>storitev</a:t>
            </a:r>
            <a:r>
              <a:rPr lang="en-SI" dirty="0"/>
              <a:t>, </a:t>
            </a:r>
            <a:r>
              <a:rPr lang="en-SI" dirty="0" err="1"/>
              <a:t>kjer</a:t>
            </a:r>
            <a:r>
              <a:rPr lang="en-SI" dirty="0"/>
              <a:t> </a:t>
            </a:r>
            <a:r>
              <a:rPr lang="en-SI" dirty="0" err="1"/>
              <a:t>uporabljamo</a:t>
            </a:r>
            <a:r>
              <a:rPr lang="en-SI" dirty="0"/>
              <a:t> </a:t>
            </a:r>
            <a:r>
              <a:rPr lang="en-SI" b="1" dirty="0"/>
              <a:t>React za frontend, Java Spring Boot za backend, MySQL za </a:t>
            </a:r>
            <a:r>
              <a:rPr lang="en-SI" b="1" dirty="0" err="1"/>
              <a:t>podatke</a:t>
            </a:r>
            <a:r>
              <a:rPr lang="en-SI" b="1" dirty="0"/>
              <a:t>, Alloy za </a:t>
            </a:r>
            <a:r>
              <a:rPr lang="en-SI" b="1" dirty="0" err="1"/>
              <a:t>modeliranje</a:t>
            </a:r>
            <a:r>
              <a:rPr lang="en-SI" b="1" dirty="0"/>
              <a:t>, Grafana za </a:t>
            </a:r>
            <a:r>
              <a:rPr lang="en-SI" b="1" dirty="0" err="1"/>
              <a:t>vizualizacijo</a:t>
            </a:r>
            <a:r>
              <a:rPr lang="en-SI" b="1" dirty="0"/>
              <a:t> in </a:t>
            </a:r>
            <a:r>
              <a:rPr lang="en-SI" b="1" dirty="0" err="1"/>
              <a:t>OpenRouter</a:t>
            </a:r>
            <a:r>
              <a:rPr lang="en-SI" b="1" dirty="0"/>
              <a:t> model za AI </a:t>
            </a:r>
            <a:r>
              <a:rPr lang="en-SI" b="1" dirty="0" err="1"/>
              <a:t>obdelavo</a:t>
            </a:r>
            <a:r>
              <a:rPr lang="en-SI" b="1" dirty="0"/>
              <a:t> </a:t>
            </a:r>
            <a:r>
              <a:rPr lang="en-SI" b="1" dirty="0" err="1"/>
              <a:t>prompta</a:t>
            </a:r>
            <a:r>
              <a:rPr lang="en-SI" b="1" dirty="0"/>
              <a:t> in CV-</a:t>
            </a:r>
            <a:r>
              <a:rPr lang="en-SI" b="1" dirty="0" err="1"/>
              <a:t>ja</a:t>
            </a:r>
            <a:r>
              <a:rPr lang="en-SI" dirty="0"/>
              <a:t>.</a:t>
            </a:r>
          </a:p>
          <a:p>
            <a:r>
              <a:rPr lang="en-SI" dirty="0" err="1"/>
              <a:t>Te</a:t>
            </a:r>
            <a:r>
              <a:rPr lang="en-SI" dirty="0"/>
              <a:t> </a:t>
            </a:r>
            <a:r>
              <a:rPr lang="en-SI" dirty="0" err="1"/>
              <a:t>storitve</a:t>
            </a:r>
            <a:r>
              <a:rPr lang="en-SI" dirty="0"/>
              <a:t> </a:t>
            </a:r>
            <a:r>
              <a:rPr lang="en-SI" dirty="0" err="1"/>
              <a:t>skupaj</a:t>
            </a:r>
            <a:r>
              <a:rPr lang="en-SI" dirty="0"/>
              <a:t> </a:t>
            </a:r>
            <a:r>
              <a:rPr lang="en-SI" dirty="0" err="1"/>
              <a:t>omogočajo</a:t>
            </a:r>
            <a:r>
              <a:rPr lang="en-SI" dirty="0"/>
              <a:t> </a:t>
            </a:r>
            <a:r>
              <a:rPr lang="en-US" dirty="0"/>
              <a:t>(</a:t>
            </a:r>
            <a:r>
              <a:rPr lang="en-US" dirty="0" err="1"/>
              <a:t>vse</a:t>
            </a:r>
            <a:r>
              <a:rPr lang="en-US" dirty="0"/>
              <a:t> </a:t>
            </a:r>
            <a:r>
              <a:rPr lang="en-US" dirty="0" err="1"/>
              <a:t>kaj</a:t>
            </a:r>
            <a:r>
              <a:rPr lang="en-US" dirty="0"/>
              <a:t> </a:t>
            </a:r>
            <a:r>
              <a:rPr lang="en-US" dirty="0" err="1"/>
              <a:t>nasa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 </a:t>
            </a:r>
            <a:r>
              <a:rPr lang="en-US" dirty="0" err="1"/>
              <a:t>ponuja</a:t>
            </a:r>
            <a:r>
              <a:rPr lang="en-US" dirty="0"/>
              <a:t>)</a:t>
            </a:r>
            <a:r>
              <a:rPr lang="en-SI" dirty="0" err="1"/>
              <a:t>iskanje</a:t>
            </a:r>
            <a:r>
              <a:rPr lang="en-SI" dirty="0"/>
              <a:t> </a:t>
            </a:r>
            <a:r>
              <a:rPr lang="en-SI" dirty="0" err="1"/>
              <a:t>oglasov</a:t>
            </a:r>
            <a:r>
              <a:rPr lang="en-SI" dirty="0"/>
              <a:t>, </a:t>
            </a:r>
            <a:r>
              <a:rPr lang="en-SI" dirty="0" err="1"/>
              <a:t>analizo</a:t>
            </a:r>
            <a:r>
              <a:rPr lang="en-SI" dirty="0"/>
              <a:t> CV-</a:t>
            </a:r>
            <a:r>
              <a:rPr lang="en-SI" dirty="0" err="1"/>
              <a:t>ja</a:t>
            </a:r>
            <a:r>
              <a:rPr lang="en-SI" dirty="0"/>
              <a:t>, </a:t>
            </a:r>
            <a:r>
              <a:rPr lang="en-SI" dirty="0" err="1"/>
              <a:t>razumevanje</a:t>
            </a:r>
            <a:r>
              <a:rPr lang="en-SI" dirty="0"/>
              <a:t> </a:t>
            </a:r>
            <a:r>
              <a:rPr lang="en-SI" dirty="0" err="1"/>
              <a:t>prompta</a:t>
            </a:r>
            <a:r>
              <a:rPr lang="en-SI" dirty="0"/>
              <a:t>, </a:t>
            </a:r>
            <a:r>
              <a:rPr lang="en-SI" dirty="0" err="1"/>
              <a:t>oceno</a:t>
            </a:r>
            <a:r>
              <a:rPr lang="en-SI" dirty="0"/>
              <a:t> </a:t>
            </a:r>
            <a:r>
              <a:rPr lang="en-SI" dirty="0" err="1"/>
              <a:t>plačnega</a:t>
            </a:r>
            <a:r>
              <a:rPr lang="en-SI" dirty="0"/>
              <a:t> </a:t>
            </a:r>
            <a:r>
              <a:rPr lang="en-SI" dirty="0" err="1"/>
              <a:t>razpona</a:t>
            </a:r>
            <a:r>
              <a:rPr lang="en-SI" dirty="0"/>
              <a:t> in </a:t>
            </a:r>
            <a:r>
              <a:rPr lang="en-SI" dirty="0" err="1"/>
              <a:t>prikaz</a:t>
            </a:r>
            <a:r>
              <a:rPr lang="en-SI" dirty="0"/>
              <a:t> </a:t>
            </a:r>
            <a:r>
              <a:rPr lang="en-SI" dirty="0" err="1"/>
              <a:t>rezultatov</a:t>
            </a:r>
            <a:r>
              <a:rPr lang="en-SI" dirty="0"/>
              <a:t> </a:t>
            </a:r>
            <a:r>
              <a:rPr lang="en-SI" dirty="0" err="1"/>
              <a:t>uporabniku</a:t>
            </a:r>
            <a:r>
              <a:rPr lang="en-SI" dirty="0"/>
              <a:t>.</a:t>
            </a:r>
          </a:p>
          <a:p>
            <a:r>
              <a:rPr lang="en-SI" dirty="0" err="1"/>
              <a:t>Torej</a:t>
            </a:r>
            <a:r>
              <a:rPr lang="en-SI" dirty="0"/>
              <a:t> je </a:t>
            </a:r>
            <a:r>
              <a:rPr lang="en-SI" dirty="0" err="1"/>
              <a:t>ozadje</a:t>
            </a:r>
            <a:r>
              <a:rPr lang="en-SI" dirty="0"/>
              <a:t> </a:t>
            </a:r>
            <a:r>
              <a:rPr lang="en-SI" dirty="0" err="1"/>
              <a:t>tehnično</a:t>
            </a:r>
            <a:r>
              <a:rPr lang="en-SI" dirty="0"/>
              <a:t> </a:t>
            </a:r>
            <a:r>
              <a:rPr lang="en-SI" dirty="0" err="1"/>
              <a:t>kompleksno</a:t>
            </a:r>
            <a:r>
              <a:rPr lang="en-SI" dirty="0"/>
              <a:t>, </a:t>
            </a:r>
            <a:r>
              <a:rPr lang="en-SI" dirty="0" err="1"/>
              <a:t>ampak</a:t>
            </a:r>
            <a:r>
              <a:rPr lang="en-SI" dirty="0"/>
              <a:t> </a:t>
            </a:r>
            <a:r>
              <a:rPr lang="en-SI" dirty="0" err="1"/>
              <a:t>uporabniška</a:t>
            </a:r>
            <a:r>
              <a:rPr lang="en-SI" dirty="0"/>
              <a:t> </a:t>
            </a:r>
            <a:r>
              <a:rPr lang="en-SI" dirty="0" err="1"/>
              <a:t>izkušnja</a:t>
            </a:r>
            <a:r>
              <a:rPr lang="en-SI" dirty="0"/>
              <a:t> </a:t>
            </a:r>
            <a:r>
              <a:rPr lang="en-SI" dirty="0" err="1"/>
              <a:t>ostane</a:t>
            </a:r>
            <a:r>
              <a:rPr lang="en-SI" dirty="0"/>
              <a:t> </a:t>
            </a:r>
            <a:r>
              <a:rPr lang="en-SI" dirty="0" err="1"/>
              <a:t>enostavna</a:t>
            </a:r>
            <a:r>
              <a:rPr lang="en-SI" dirty="0"/>
              <a:t>.</a:t>
            </a:r>
          </a:p>
          <a:p>
            <a:r>
              <a:rPr lang="en-SI" dirty="0" err="1"/>
              <a:t>Zdaj</a:t>
            </a:r>
            <a:r>
              <a:rPr lang="en-SI" dirty="0"/>
              <a:t> pa </a:t>
            </a:r>
            <a:r>
              <a:rPr lang="en-SI" dirty="0" err="1"/>
              <a:t>poglejmo</a:t>
            </a:r>
            <a:r>
              <a:rPr lang="en-SI" dirty="0"/>
              <a:t>, </a:t>
            </a:r>
            <a:r>
              <a:rPr lang="en-SI" dirty="0" err="1"/>
              <a:t>kako</a:t>
            </a:r>
            <a:r>
              <a:rPr lang="en-SI" dirty="0"/>
              <a:t> to </a:t>
            </a:r>
            <a:r>
              <a:rPr lang="en-SI" dirty="0" err="1"/>
              <a:t>deluje</a:t>
            </a:r>
            <a:r>
              <a:rPr lang="en-SI" dirty="0"/>
              <a:t> v </a:t>
            </a:r>
            <a:r>
              <a:rPr lang="en-SI" dirty="0" err="1"/>
              <a:t>praksi</a:t>
            </a:r>
            <a:r>
              <a:rPr lang="en-SI" dirty="0"/>
              <a:t> — </a:t>
            </a:r>
            <a:r>
              <a:rPr lang="en-SI" dirty="0" err="1"/>
              <a:t>gremo</a:t>
            </a:r>
            <a:r>
              <a:rPr lang="en-SI" dirty="0"/>
              <a:t> </a:t>
            </a:r>
            <a:r>
              <a:rPr lang="en-SI" dirty="0" err="1"/>
              <a:t>na</a:t>
            </a:r>
            <a:r>
              <a:rPr lang="en-SI" dirty="0"/>
              <a:t> </a:t>
            </a:r>
            <a:r>
              <a:rPr lang="en-SI" dirty="0" err="1"/>
              <a:t>demonstracijo</a:t>
            </a:r>
            <a:r>
              <a:rPr lang="en-SI" dirty="0"/>
              <a:t>.</a:t>
            </a:r>
          </a:p>
          <a:p>
            <a:pPr fontAlgn="base"/>
            <a:endParaRPr lang="en-SI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0062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>
          <a:extLst>
            <a:ext uri="{FF2B5EF4-FFF2-40B4-BE49-F238E27FC236}">
              <a16:creationId xmlns:a16="http://schemas.microsoft.com/office/drawing/2014/main" id="{B762FC18-F995-5FA3-DE60-9AE6CE27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561de8dac6_0_22458:notes">
            <a:extLst>
              <a:ext uri="{FF2B5EF4-FFF2-40B4-BE49-F238E27FC236}">
                <a16:creationId xmlns:a16="http://schemas.microsoft.com/office/drawing/2014/main" id="{60711B0B-74AD-9C42-EED3-FCEB661AA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561de8dac6_0_22458:notes">
            <a:extLst>
              <a:ext uri="{FF2B5EF4-FFF2-40B4-BE49-F238E27FC236}">
                <a16:creationId xmlns:a16="http://schemas.microsoft.com/office/drawing/2014/main" id="{C9C8CAF2-8372-A982-DC4A-1A9967805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4263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61de8dac6_0_22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561de8dac6_0_22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I" dirty="0"/>
              <a:t>In </a:t>
            </a:r>
            <a:r>
              <a:rPr lang="en-SI" dirty="0" err="1"/>
              <a:t>ravno</a:t>
            </a:r>
            <a:r>
              <a:rPr lang="en-SI" dirty="0"/>
              <a:t> </a:t>
            </a:r>
            <a:r>
              <a:rPr lang="en-SI" dirty="0" err="1"/>
              <a:t>tukaj</a:t>
            </a:r>
            <a:r>
              <a:rPr lang="en-SI" dirty="0"/>
              <a:t> </a:t>
            </a:r>
            <a:r>
              <a:rPr lang="en-SI" dirty="0" err="1"/>
              <a:t>JobRadar</a:t>
            </a:r>
            <a:r>
              <a:rPr lang="en-SI" dirty="0"/>
              <a:t> </a:t>
            </a:r>
            <a:r>
              <a:rPr lang="en-SI" dirty="0" err="1"/>
              <a:t>pokaže</a:t>
            </a:r>
            <a:r>
              <a:rPr lang="en-SI" dirty="0"/>
              <a:t> </a:t>
            </a:r>
            <a:r>
              <a:rPr lang="en-SI" dirty="0" err="1"/>
              <a:t>svojo</a:t>
            </a:r>
            <a:r>
              <a:rPr lang="en-SI" dirty="0"/>
              <a:t> </a:t>
            </a:r>
            <a:r>
              <a:rPr lang="en-SI" dirty="0" err="1"/>
              <a:t>vrednost</a:t>
            </a:r>
            <a:r>
              <a:rPr lang="en-SI" dirty="0"/>
              <a:t>.</a:t>
            </a:r>
            <a:br>
              <a:rPr lang="en-SI" dirty="0"/>
            </a:br>
            <a:r>
              <a:rPr lang="en-SI" dirty="0" err="1"/>
              <a:t>Uporabnik</a:t>
            </a:r>
            <a:r>
              <a:rPr lang="en-SI" dirty="0"/>
              <a:t> ne </a:t>
            </a:r>
            <a:r>
              <a:rPr lang="en-SI" dirty="0" err="1"/>
              <a:t>dobi</a:t>
            </a:r>
            <a:r>
              <a:rPr lang="en-SI" dirty="0"/>
              <a:t> </a:t>
            </a:r>
            <a:r>
              <a:rPr lang="en-SI" dirty="0" err="1"/>
              <a:t>samo</a:t>
            </a:r>
            <a:r>
              <a:rPr lang="en-SI" dirty="0"/>
              <a:t> </a:t>
            </a:r>
            <a:r>
              <a:rPr lang="en-SI" dirty="0" err="1"/>
              <a:t>seznama</a:t>
            </a:r>
            <a:r>
              <a:rPr lang="en-SI" dirty="0"/>
              <a:t> </a:t>
            </a:r>
            <a:r>
              <a:rPr lang="en-SI" dirty="0" err="1"/>
              <a:t>oglasov</a:t>
            </a:r>
            <a:r>
              <a:rPr lang="en-SI" dirty="0"/>
              <a:t>, </a:t>
            </a:r>
            <a:r>
              <a:rPr lang="en-SI" dirty="0" err="1"/>
              <a:t>ampak</a:t>
            </a:r>
            <a:r>
              <a:rPr lang="en-SI" dirty="0"/>
              <a:t> </a:t>
            </a:r>
            <a:r>
              <a:rPr lang="en-SI" dirty="0" err="1"/>
              <a:t>pametnejši</a:t>
            </a:r>
            <a:r>
              <a:rPr lang="en-SI" dirty="0"/>
              <a:t> </a:t>
            </a:r>
            <a:r>
              <a:rPr lang="en-SI" dirty="0" err="1"/>
              <a:t>način</a:t>
            </a:r>
            <a:r>
              <a:rPr lang="en-SI" dirty="0"/>
              <a:t> </a:t>
            </a:r>
            <a:r>
              <a:rPr lang="en-SI" dirty="0" err="1"/>
              <a:t>odločanja</a:t>
            </a:r>
            <a:r>
              <a:rPr lang="en-SI" dirty="0"/>
              <a:t>.</a:t>
            </a:r>
            <a:br>
              <a:rPr lang="en-SI" dirty="0"/>
            </a:br>
            <a:r>
              <a:rPr lang="en-SI" dirty="0"/>
              <a:t>Od </a:t>
            </a:r>
            <a:r>
              <a:rPr lang="en-SI" dirty="0" err="1"/>
              <a:t>prvega</a:t>
            </a:r>
            <a:r>
              <a:rPr lang="en-SI" dirty="0"/>
              <a:t> </a:t>
            </a:r>
            <a:r>
              <a:rPr lang="en-SI" dirty="0" err="1"/>
              <a:t>iskanja</a:t>
            </a:r>
            <a:r>
              <a:rPr lang="en-SI" dirty="0"/>
              <a:t>, do CV-</a:t>
            </a:r>
            <a:r>
              <a:rPr lang="en-SI" dirty="0" err="1"/>
              <a:t>ja</a:t>
            </a:r>
            <a:r>
              <a:rPr lang="en-SI" dirty="0"/>
              <a:t>, </a:t>
            </a:r>
            <a:r>
              <a:rPr lang="en-SI" dirty="0" err="1"/>
              <a:t>plačnega</a:t>
            </a:r>
            <a:r>
              <a:rPr lang="en-SI" dirty="0"/>
              <a:t> </a:t>
            </a:r>
            <a:r>
              <a:rPr lang="en-SI" dirty="0" err="1"/>
              <a:t>razpona</a:t>
            </a:r>
            <a:r>
              <a:rPr lang="en-SI" dirty="0"/>
              <a:t> in </a:t>
            </a:r>
            <a:r>
              <a:rPr lang="en-SI" dirty="0" err="1"/>
              <a:t>primerjave</a:t>
            </a:r>
            <a:r>
              <a:rPr lang="en-SI" dirty="0"/>
              <a:t> </a:t>
            </a:r>
            <a:r>
              <a:rPr lang="en-SI" dirty="0" err="1"/>
              <a:t>ponudb</a:t>
            </a:r>
            <a:r>
              <a:rPr lang="en-SI" dirty="0"/>
              <a:t> — </a:t>
            </a:r>
            <a:r>
              <a:rPr lang="en-SI" dirty="0" err="1"/>
              <a:t>vse</a:t>
            </a:r>
            <a:r>
              <a:rPr lang="en-SI" dirty="0"/>
              <a:t> je </a:t>
            </a:r>
            <a:r>
              <a:rPr lang="en-SI" dirty="0" err="1"/>
              <a:t>narejeno</a:t>
            </a:r>
            <a:r>
              <a:rPr lang="en-SI" dirty="0"/>
              <a:t> </a:t>
            </a:r>
            <a:r>
              <a:rPr lang="en-SI" dirty="0" err="1"/>
              <a:t>zato</a:t>
            </a:r>
            <a:r>
              <a:rPr lang="en-SI" dirty="0"/>
              <a:t>, da </a:t>
            </a:r>
            <a:r>
              <a:rPr lang="en-SI" dirty="0" err="1"/>
              <a:t>uporabnik</a:t>
            </a:r>
            <a:r>
              <a:rPr lang="en-SI" dirty="0"/>
              <a:t> </a:t>
            </a:r>
            <a:r>
              <a:rPr lang="en-SI" dirty="0" err="1"/>
              <a:t>hitreje</a:t>
            </a:r>
            <a:r>
              <a:rPr lang="en-SI" dirty="0"/>
              <a:t> pride do </a:t>
            </a:r>
            <a:r>
              <a:rPr lang="en-SI" dirty="0" err="1"/>
              <a:t>prave</a:t>
            </a:r>
            <a:r>
              <a:rPr lang="en-SI" dirty="0"/>
              <a:t> </a:t>
            </a:r>
            <a:r>
              <a:rPr lang="en-SI" dirty="0" err="1"/>
              <a:t>priložnosti</a:t>
            </a:r>
            <a:r>
              <a:rPr lang="en-SI" dirty="0"/>
              <a:t>.</a:t>
            </a:r>
            <a:br>
              <a:rPr lang="en-SI" dirty="0"/>
            </a:br>
            <a:r>
              <a:rPr lang="en-SI" b="1" dirty="0" err="1"/>
              <a:t>Manj</a:t>
            </a:r>
            <a:r>
              <a:rPr lang="en-SI" b="1" dirty="0"/>
              <a:t> </a:t>
            </a:r>
            <a:r>
              <a:rPr lang="en-SI" b="1" dirty="0" err="1"/>
              <a:t>izgubljenega</a:t>
            </a:r>
            <a:r>
              <a:rPr lang="en-SI" b="1" dirty="0"/>
              <a:t> </a:t>
            </a:r>
            <a:r>
              <a:rPr lang="en-SI" b="1" dirty="0" err="1"/>
              <a:t>časa</a:t>
            </a:r>
            <a:r>
              <a:rPr lang="en-SI" b="1" dirty="0"/>
              <a:t>. </a:t>
            </a:r>
            <a:r>
              <a:rPr lang="en-SI" b="1" dirty="0" err="1"/>
              <a:t>Manj</a:t>
            </a:r>
            <a:r>
              <a:rPr lang="en-SI" b="1" dirty="0"/>
              <a:t> </a:t>
            </a:r>
            <a:r>
              <a:rPr lang="en-SI" b="1" dirty="0" err="1"/>
              <a:t>odprtih</a:t>
            </a:r>
            <a:r>
              <a:rPr lang="en-SI" b="1" dirty="0"/>
              <a:t> </a:t>
            </a:r>
            <a:r>
              <a:rPr lang="en-SI" b="1" dirty="0" err="1"/>
              <a:t>zavihkov</a:t>
            </a:r>
            <a:r>
              <a:rPr lang="en-SI" b="1" dirty="0"/>
              <a:t>. </a:t>
            </a:r>
            <a:r>
              <a:rPr lang="en-SI" b="1" dirty="0" err="1"/>
              <a:t>Več</a:t>
            </a:r>
            <a:r>
              <a:rPr lang="en-SI" b="1" dirty="0"/>
              <a:t> </a:t>
            </a:r>
            <a:r>
              <a:rPr lang="en-SI" b="1" dirty="0" err="1"/>
              <a:t>pravih</a:t>
            </a:r>
            <a:r>
              <a:rPr lang="en-SI" b="1" dirty="0"/>
              <a:t> </a:t>
            </a:r>
            <a:r>
              <a:rPr lang="en-SI" b="1" dirty="0" err="1"/>
              <a:t>priložnosti</a:t>
            </a:r>
            <a:r>
              <a:rPr lang="en-SI" b="1" dirty="0"/>
              <a:t>.</a:t>
            </a:r>
            <a:br>
              <a:rPr lang="en-SI" dirty="0"/>
            </a:br>
            <a:r>
              <a:rPr lang="en-SI" dirty="0"/>
              <a:t>Hvala za </a:t>
            </a:r>
            <a:r>
              <a:rPr lang="en-SI" dirty="0" err="1"/>
              <a:t>pozornost</a:t>
            </a:r>
            <a:r>
              <a:rPr lang="en-SI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287EB919-BC75-2A9E-8508-8AD4BB99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>
            <a:extLst>
              <a:ext uri="{FF2B5EF4-FFF2-40B4-BE49-F238E27FC236}">
                <a16:creationId xmlns:a16="http://schemas.microsoft.com/office/drawing/2014/main" id="{7D336D30-B1CB-5E5C-57E0-E8EE0934E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>
            <a:extLst>
              <a:ext uri="{FF2B5EF4-FFF2-40B4-BE49-F238E27FC236}">
                <a16:creationId xmlns:a16="http://schemas.microsoft.com/office/drawing/2014/main" id="{420BC483-FD66-2CA9-7608-632BABF5F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Za </a:t>
            </a:r>
            <a:r>
              <a:rPr lang="en-US" dirty="0" err="1"/>
              <a:t>krajjj</a:t>
            </a:r>
            <a:r>
              <a:rPr lang="en-US" dirty="0"/>
              <a:t> </a:t>
            </a:r>
            <a:r>
              <a:rPr lang="en-SI" dirty="0" err="1"/>
              <a:t>manj</a:t>
            </a:r>
            <a:r>
              <a:rPr lang="en-SI" dirty="0"/>
              <a:t> </a:t>
            </a:r>
            <a:r>
              <a:rPr lang="en-SI" dirty="0" err="1"/>
              <a:t>zavihkov</a:t>
            </a:r>
            <a:r>
              <a:rPr lang="en-SI" dirty="0"/>
              <a:t>, </a:t>
            </a:r>
            <a:r>
              <a:rPr lang="en-SI" dirty="0" err="1"/>
              <a:t>hitrejša</a:t>
            </a:r>
            <a:r>
              <a:rPr lang="en-SI" dirty="0"/>
              <a:t> </a:t>
            </a:r>
            <a:r>
              <a:rPr lang="en-SI" dirty="0" err="1"/>
              <a:t>odločitev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8086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497623" y="-3443479"/>
            <a:ext cx="6732600" cy="6972879"/>
            <a:chOff x="-4497623" y="-3443479"/>
            <a:chExt cx="6732600" cy="6972879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497623" y="-3443479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8100000">
              <a:off x="-463750" y="2302414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18275" y="1145816"/>
            <a:ext cx="3654000" cy="24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018263" y="3693801"/>
            <a:ext cx="27015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5"/>
          <p:cNvGrpSpPr/>
          <p:nvPr/>
        </p:nvGrpSpPr>
        <p:grpSpPr>
          <a:xfrm>
            <a:off x="-5673724" y="-1100387"/>
            <a:ext cx="20491447" cy="8325650"/>
            <a:chOff x="-5673724" y="-1100387"/>
            <a:chExt cx="20491447" cy="8325650"/>
          </a:xfrm>
        </p:grpSpPr>
        <p:pic>
          <p:nvPicPr>
            <p:cNvPr id="37" name="Google Shape;3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085124" y="-110038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38" name="Google Shape;38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5673724" y="41166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04064" y="39623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5"/>
          <p:cNvGrpSpPr/>
          <p:nvPr/>
        </p:nvGrpSpPr>
        <p:grpSpPr>
          <a:xfrm>
            <a:off x="-566932" y="-176233"/>
            <a:ext cx="10254726" cy="2768500"/>
            <a:chOff x="-566932" y="-176233"/>
            <a:chExt cx="10254726" cy="2768500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 flipH="1">
              <a:off x="-247672" y="136528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8100000" flipH="1">
              <a:off x="8723335" y="-119500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163137" y="2391985"/>
            <a:ext cx="33063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903163" y="2391985"/>
            <a:ext cx="33063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3"/>
          </p:nvPr>
        </p:nvSpPr>
        <p:spPr>
          <a:xfrm>
            <a:off x="1163137" y="2802320"/>
            <a:ext cx="3306300" cy="13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4"/>
          </p:nvPr>
        </p:nvSpPr>
        <p:spPr>
          <a:xfrm>
            <a:off x="4903162" y="2802320"/>
            <a:ext cx="3306300" cy="13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8"/>
          <p:cNvGrpSpPr/>
          <p:nvPr/>
        </p:nvGrpSpPr>
        <p:grpSpPr>
          <a:xfrm>
            <a:off x="-4648473" y="-2179137"/>
            <a:ext cx="19540413" cy="11321350"/>
            <a:chOff x="-4648473" y="-2179137"/>
            <a:chExt cx="19540413" cy="11321350"/>
          </a:xfrm>
        </p:grpSpPr>
        <p:pic>
          <p:nvPicPr>
            <p:cNvPr id="70" name="Google Shape;70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71" name="Google Shape;71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72" name="Google Shape;72;p8"/>
          <p:cNvGrpSpPr/>
          <p:nvPr/>
        </p:nvGrpSpPr>
        <p:grpSpPr>
          <a:xfrm>
            <a:off x="1916047" y="-700005"/>
            <a:ext cx="7141751" cy="6567032"/>
            <a:chOff x="1964893" y="-700005"/>
            <a:chExt cx="7141751" cy="6567032"/>
          </a:xfrm>
        </p:grpSpPr>
        <p:pic>
          <p:nvPicPr>
            <p:cNvPr id="73" name="Google Shape;73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" name="Google Shape;7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92175" y="475220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9"/>
          <p:cNvGrpSpPr/>
          <p:nvPr/>
        </p:nvGrpSpPr>
        <p:grpSpPr>
          <a:xfrm>
            <a:off x="-4697320" y="-3952864"/>
            <a:ext cx="19589259" cy="11702350"/>
            <a:chOff x="-4697320" y="-3952864"/>
            <a:chExt cx="19589259" cy="11702350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-4697320" y="-3952864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159339" y="935886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>
            <a:off x="2019600" y="-869644"/>
            <a:ext cx="6809597" cy="6835198"/>
            <a:chOff x="2019600" y="-869644"/>
            <a:chExt cx="6809597" cy="6835198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8100000" flipH="1">
              <a:off x="7864738" y="4738568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 flipH="1">
              <a:off x="2338860" y="-81291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-992175" y="4013044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subTitle" idx="1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>
            <a:spLocks noGrp="1"/>
          </p:cNvSpPr>
          <p:nvPr>
            <p:ph type="pic" idx="2"/>
          </p:nvPr>
        </p:nvSpPr>
        <p:spPr>
          <a:xfrm>
            <a:off x="-27600" y="-35400"/>
            <a:ext cx="9199200" cy="52143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3"/>
          <p:cNvGrpSpPr/>
          <p:nvPr/>
        </p:nvGrpSpPr>
        <p:grpSpPr>
          <a:xfrm flipH="1">
            <a:off x="-5715273" y="-2179137"/>
            <a:ext cx="19540413" cy="11321350"/>
            <a:chOff x="-4648473" y="-2179137"/>
            <a:chExt cx="19540413" cy="11321350"/>
          </a:xfrm>
        </p:grpSpPr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00" name="Google Shape;100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01" name="Google Shape;10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32664" y="4571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3"/>
          <p:cNvGrpSpPr/>
          <p:nvPr/>
        </p:nvGrpSpPr>
        <p:grpSpPr>
          <a:xfrm flipH="1">
            <a:off x="118868" y="-700005"/>
            <a:ext cx="7141751" cy="6530398"/>
            <a:chOff x="1964893" y="-700005"/>
            <a:chExt cx="7141751" cy="6530398"/>
          </a:xfrm>
        </p:grpSpPr>
        <p:pic>
          <p:nvPicPr>
            <p:cNvPr id="103" name="Google Shape;10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1167787" y="1566654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1069952" y="2300839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3" hasCustomPrompt="1"/>
          </p:nvPr>
        </p:nvSpPr>
        <p:spPr>
          <a:xfrm>
            <a:off x="3659012" y="1566654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4"/>
          </p:nvPr>
        </p:nvSpPr>
        <p:spPr>
          <a:xfrm>
            <a:off x="3561177" y="2300839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5" hasCustomPrompt="1"/>
          </p:nvPr>
        </p:nvSpPr>
        <p:spPr>
          <a:xfrm>
            <a:off x="6150237" y="1566654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6"/>
          </p:nvPr>
        </p:nvSpPr>
        <p:spPr>
          <a:xfrm>
            <a:off x="6052402" y="2300839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7" hasCustomPrompt="1"/>
          </p:nvPr>
        </p:nvSpPr>
        <p:spPr>
          <a:xfrm>
            <a:off x="1167767" y="3127126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069925" y="3861237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9" hasCustomPrompt="1"/>
          </p:nvPr>
        </p:nvSpPr>
        <p:spPr>
          <a:xfrm>
            <a:off x="3658992" y="3127126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3561150" y="3861237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14" hasCustomPrompt="1"/>
          </p:nvPr>
        </p:nvSpPr>
        <p:spPr>
          <a:xfrm>
            <a:off x="6150217" y="3127126"/>
            <a:ext cx="581700" cy="581700"/>
          </a:xfrm>
          <a:prstGeom prst="rect">
            <a:avLst/>
          </a:prstGeom>
          <a:solidFill>
            <a:srgbClr val="9B97E1">
              <a:alpha val="13290"/>
            </a:srgbClr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6052375" y="3861237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92539" y="2328613"/>
            <a:ext cx="6732600" cy="6813600"/>
          </a:xfrm>
          <a:prstGeom prst="diamond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32664" y="725313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9"/>
          <p:cNvGrpSpPr/>
          <p:nvPr/>
        </p:nvGrpSpPr>
        <p:grpSpPr>
          <a:xfrm flipH="1">
            <a:off x="118868" y="-700005"/>
            <a:ext cx="7141751" cy="6530398"/>
            <a:chOff x="1964893" y="-700005"/>
            <a:chExt cx="7141751" cy="6530398"/>
          </a:xfrm>
        </p:grpSpPr>
        <p:pic>
          <p:nvPicPr>
            <p:cNvPr id="196" name="Google Shape;196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19"/>
          <p:cNvSpPr txBox="1">
            <a:spLocks noGrp="1"/>
          </p:cNvSpPr>
          <p:nvPr>
            <p:ph type="title" hasCustomPrompt="1"/>
          </p:nvPr>
        </p:nvSpPr>
        <p:spPr>
          <a:xfrm>
            <a:off x="3140550" y="754409"/>
            <a:ext cx="4691700" cy="7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1"/>
          </p:nvPr>
        </p:nvSpPr>
        <p:spPr>
          <a:xfrm>
            <a:off x="3140550" y="1401316"/>
            <a:ext cx="46917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title" idx="2" hasCustomPrompt="1"/>
          </p:nvPr>
        </p:nvSpPr>
        <p:spPr>
          <a:xfrm>
            <a:off x="3140550" y="2077508"/>
            <a:ext cx="4691700" cy="7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3"/>
          </p:nvPr>
        </p:nvSpPr>
        <p:spPr>
          <a:xfrm>
            <a:off x="3140550" y="2724415"/>
            <a:ext cx="46917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title" idx="4" hasCustomPrompt="1"/>
          </p:nvPr>
        </p:nvSpPr>
        <p:spPr>
          <a:xfrm>
            <a:off x="3140550" y="3400607"/>
            <a:ext cx="4691700" cy="7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5"/>
          </p:nvPr>
        </p:nvSpPr>
        <p:spPr>
          <a:xfrm>
            <a:off x="3140550" y="4047515"/>
            <a:ext cx="46917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1"/>
          <p:cNvGrpSpPr/>
          <p:nvPr/>
        </p:nvGrpSpPr>
        <p:grpSpPr>
          <a:xfrm>
            <a:off x="-4648473" y="-2179137"/>
            <a:ext cx="19540413" cy="11321350"/>
            <a:chOff x="-4648473" y="-2179137"/>
            <a:chExt cx="19540413" cy="11321350"/>
          </a:xfrm>
        </p:grpSpPr>
        <p:pic>
          <p:nvPicPr>
            <p:cNvPr id="215" name="Google Shape;215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21"/>
          <p:cNvGrpSpPr/>
          <p:nvPr/>
        </p:nvGrpSpPr>
        <p:grpSpPr>
          <a:xfrm>
            <a:off x="1916047" y="-700005"/>
            <a:ext cx="7141751" cy="6567032"/>
            <a:chOff x="1964893" y="-700005"/>
            <a:chExt cx="7141751" cy="6567032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92175" y="475220"/>
            <a:ext cx="1536176" cy="73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5"/>
          <p:cNvGrpSpPr/>
          <p:nvPr/>
        </p:nvGrpSpPr>
        <p:grpSpPr>
          <a:xfrm>
            <a:off x="-4562998" y="-2179137"/>
            <a:ext cx="19150138" cy="10906150"/>
            <a:chOff x="-4562998" y="-2179137"/>
            <a:chExt cx="19150138" cy="10906150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562998" y="19134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8545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255" name="Google Shape;2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92175" y="368736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25"/>
          <p:cNvGrpSpPr/>
          <p:nvPr/>
        </p:nvGrpSpPr>
        <p:grpSpPr>
          <a:xfrm>
            <a:off x="1964893" y="-614525"/>
            <a:ext cx="7141751" cy="6444917"/>
            <a:chOff x="1964893" y="-614525"/>
            <a:chExt cx="7141751" cy="6444917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2700000">
              <a:off x="8142184" y="-55779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6"/>
          <p:cNvGrpSpPr/>
          <p:nvPr/>
        </p:nvGrpSpPr>
        <p:grpSpPr>
          <a:xfrm>
            <a:off x="-4497623" y="-3443479"/>
            <a:ext cx="13440852" cy="14115529"/>
            <a:chOff x="-4497623" y="-3443479"/>
            <a:chExt cx="13440852" cy="14115529"/>
          </a:xfrm>
        </p:grpSpPr>
        <p:pic>
          <p:nvPicPr>
            <p:cNvPr id="261" name="Google Shape;261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497623" y="-3443479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262" name="Google Shape;262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210629" y="3858450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263" name="Google Shape;2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264" y="-348950"/>
            <a:ext cx="4929803" cy="338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-783009" y="2245682"/>
            <a:ext cx="7983160" cy="2388672"/>
            <a:chOff x="-783009" y="2245682"/>
            <a:chExt cx="7983160" cy="2388672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8100000">
              <a:off x="-463750" y="2302414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6235692" y="3407367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63707"/>
            <a:ext cx="7717500" cy="3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5" r:id="rId8"/>
    <p:sldLayoutId id="2147483667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jobsearchwith.me/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>
            <a:spLocks noGrp="1"/>
          </p:cNvSpPr>
          <p:nvPr>
            <p:ph type="ctrTitle"/>
          </p:nvPr>
        </p:nvSpPr>
        <p:spPr>
          <a:xfrm>
            <a:off x="847112" y="1275513"/>
            <a:ext cx="3825152" cy="24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JobRadar</a:t>
            </a:r>
            <a:br>
              <a:rPr lang="en-GB" dirty="0">
                <a:latin typeface="DM Sans" pitchFamily="2" charset="0"/>
                <a:cs typeface="Times New Roman" panose="02020603050405020304" pitchFamily="18" charset="0"/>
              </a:rPr>
            </a:br>
            <a:r>
              <a:rPr lang="en-SI" sz="2500" dirty="0">
                <a:latin typeface="DM Sans" pitchFamily="2" charset="0"/>
                <a:cs typeface="Times New Roman" panose="02020603050405020304" pitchFamily="18" charset="0"/>
              </a:rPr>
              <a:t>Pametni </a:t>
            </a:r>
            <a:r>
              <a:rPr lang="en-SI" sz="2500" dirty="0" err="1">
                <a:latin typeface="DM Sans" pitchFamily="2" charset="0"/>
                <a:cs typeface="Times New Roman" panose="02020603050405020304" pitchFamily="18" charset="0"/>
              </a:rPr>
              <a:t>iskalnik</a:t>
            </a:r>
            <a:r>
              <a:rPr lang="en-SI" sz="2500" dirty="0">
                <a:latin typeface="DM Sans" pitchFamily="2" charset="0"/>
                <a:cs typeface="Times New Roman" panose="02020603050405020304" pitchFamily="18" charset="0"/>
              </a:rPr>
              <a:t> </a:t>
            </a:r>
            <a:r>
              <a:rPr lang="en-SI" sz="2500" dirty="0" err="1">
                <a:latin typeface="DM Sans" pitchFamily="2" charset="0"/>
                <a:cs typeface="Times New Roman" panose="02020603050405020304" pitchFamily="18" charset="0"/>
              </a:rPr>
              <a:t>zaposlitvenih</a:t>
            </a:r>
            <a:r>
              <a:rPr lang="en-SI" sz="2500" dirty="0">
                <a:latin typeface="DM Sans" pitchFamily="2" charset="0"/>
                <a:cs typeface="Times New Roman" panose="02020603050405020304" pitchFamily="18" charset="0"/>
              </a:rPr>
              <a:t> </a:t>
            </a:r>
            <a:r>
              <a:rPr lang="en-SI" sz="2500" dirty="0" err="1">
                <a:latin typeface="DM Sans" pitchFamily="2" charset="0"/>
                <a:cs typeface="Times New Roman" panose="02020603050405020304" pitchFamily="18" charset="0"/>
              </a:rPr>
              <a:t>priložnosti</a:t>
            </a:r>
            <a:br>
              <a:rPr lang="en-GB" sz="2500" dirty="0">
                <a:latin typeface="DM Sans" pitchFamily="2" charset="0"/>
                <a:cs typeface="Times New Roman" panose="02020603050405020304" pitchFamily="18" charset="0"/>
              </a:rPr>
            </a:br>
            <a:br>
              <a:rPr lang="en-GB" dirty="0">
                <a:latin typeface="DM Sans" pitchFamily="2" charset="0"/>
              </a:rPr>
            </a:br>
            <a:br>
              <a:rPr lang="en-GB" dirty="0">
                <a:latin typeface="DM Sans" pitchFamily="2" charset="0"/>
              </a:rPr>
            </a:br>
            <a:br>
              <a:rPr lang="en-GB" dirty="0">
                <a:latin typeface="DM Sans" pitchFamily="2" charset="0"/>
              </a:rPr>
            </a:br>
            <a:endParaRPr dirty="0">
              <a:latin typeface="DM Sans" pitchFamily="2" charset="0"/>
            </a:endParaRPr>
          </a:p>
        </p:txBody>
      </p:sp>
      <p:sp>
        <p:nvSpPr>
          <p:cNvPr id="278" name="Google Shape;278;p30"/>
          <p:cNvSpPr txBox="1">
            <a:spLocks noGrp="1"/>
          </p:cNvSpPr>
          <p:nvPr>
            <p:ph type="subTitle" idx="1"/>
          </p:nvPr>
        </p:nvSpPr>
        <p:spPr>
          <a:xfrm>
            <a:off x="1018263" y="3693801"/>
            <a:ext cx="27015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Nenad Joci</a:t>
            </a:r>
            <a:r>
              <a:rPr lang="en-GB" dirty="0"/>
              <a:t>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Kristina </a:t>
            </a:r>
            <a:r>
              <a:rPr lang="en-GB" dirty="0" err="1"/>
              <a:t>Radeva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Iva Janeva</a:t>
            </a:r>
            <a:endParaRPr dirty="0"/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989866" y="93650"/>
            <a:ext cx="6732675" cy="6813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264" y="-348950"/>
            <a:ext cx="4929803" cy="338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30"/>
          <p:cNvGrpSpPr/>
          <p:nvPr/>
        </p:nvGrpSpPr>
        <p:grpSpPr>
          <a:xfrm>
            <a:off x="3803900" y="538898"/>
            <a:ext cx="2304239" cy="3889252"/>
            <a:chOff x="3803900" y="538898"/>
            <a:chExt cx="2304239" cy="3889252"/>
          </a:xfrm>
        </p:grpSpPr>
        <p:pic>
          <p:nvPicPr>
            <p:cNvPr id="282" name="Google Shape;282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03900" y="3693851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571963" y="538898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4" name="Google Shape;28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700000">
            <a:off x="8702417" y="3750580"/>
            <a:ext cx="645199" cy="1170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713224" y="521225"/>
            <a:ext cx="8430775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SI" sz="3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Veliko </a:t>
            </a:r>
            <a:r>
              <a:rPr lang="en-SI" sz="3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oglasov</a:t>
            </a:r>
            <a:r>
              <a:rPr lang="en-SI" sz="3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 </a:t>
            </a:r>
            <a:r>
              <a:rPr lang="en-SI" sz="3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Nobene</a:t>
            </a:r>
            <a:r>
              <a:rPr lang="en-SI" sz="3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SI" sz="3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jasne</a:t>
            </a:r>
            <a:r>
              <a:rPr lang="en-SI" sz="3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SI" sz="30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odločitve</a:t>
            </a:r>
            <a:r>
              <a:rPr lang="en-GB" sz="3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.</a:t>
            </a:r>
            <a:endParaRPr sz="30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99" name="Google Shape;299;p32"/>
          <p:cNvSpPr txBox="1">
            <a:spLocks noGrp="1"/>
          </p:cNvSpPr>
          <p:nvPr>
            <p:ph type="title" idx="2"/>
          </p:nvPr>
        </p:nvSpPr>
        <p:spPr>
          <a:xfrm>
            <a:off x="1167787" y="1566654"/>
            <a:ext cx="581700" cy="581700"/>
          </a:xfrm>
          <a:prstGeom prst="rect">
            <a:avLst/>
          </a:prstGeom>
        </p:spPr>
        <p:txBody>
          <a:bodyPr spcFirstLastPara="1" wrap="square" lIns="12800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title" idx="3"/>
          </p:nvPr>
        </p:nvSpPr>
        <p:spPr>
          <a:xfrm>
            <a:off x="1167767" y="2545426"/>
            <a:ext cx="581700" cy="5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02" name="Google Shape;302;p32"/>
          <p:cNvSpPr txBox="1">
            <a:spLocks noGrp="1"/>
          </p:cNvSpPr>
          <p:nvPr>
            <p:ph type="subTitle" idx="4"/>
          </p:nvPr>
        </p:nvSpPr>
        <p:spPr>
          <a:xfrm>
            <a:off x="1868109" y="2771854"/>
            <a:ext cx="2532441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Vsak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portal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uporablja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drugačne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filtre</a:t>
            </a:r>
            <a:endParaRPr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3" name="Google Shape;303;p32"/>
          <p:cNvSpPr txBox="1">
            <a:spLocks noGrp="1"/>
          </p:cNvSpPr>
          <p:nvPr>
            <p:ph type="title" idx="5"/>
          </p:nvPr>
        </p:nvSpPr>
        <p:spPr>
          <a:xfrm>
            <a:off x="1167767" y="3516898"/>
            <a:ext cx="581700" cy="5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subTitle" idx="6"/>
          </p:nvPr>
        </p:nvSpPr>
        <p:spPr>
          <a:xfrm>
            <a:off x="5859521" y="1737714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Podatki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o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plači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pogosto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manjkajo</a:t>
            </a:r>
            <a:endParaRPr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5" name="Google Shape;305;p32"/>
          <p:cNvSpPr txBox="1">
            <a:spLocks noGrp="1"/>
          </p:cNvSpPr>
          <p:nvPr>
            <p:ph type="title" idx="7"/>
          </p:nvPr>
        </p:nvSpPr>
        <p:spPr>
          <a:xfrm>
            <a:off x="5028527" y="1537912"/>
            <a:ext cx="581700" cy="5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07" name="Google Shape;307;p32"/>
          <p:cNvSpPr txBox="1">
            <a:spLocks noGrp="1"/>
          </p:cNvSpPr>
          <p:nvPr>
            <p:ph type="title" idx="9"/>
          </p:nvPr>
        </p:nvSpPr>
        <p:spPr>
          <a:xfrm>
            <a:off x="5028527" y="2488597"/>
            <a:ext cx="581700" cy="5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08" name="Google Shape;308;p32"/>
          <p:cNvSpPr txBox="1">
            <a:spLocks noGrp="1"/>
          </p:cNvSpPr>
          <p:nvPr>
            <p:ph type="subTitle" idx="13"/>
          </p:nvPr>
        </p:nvSpPr>
        <p:spPr>
          <a:xfrm>
            <a:off x="1411068" y="3761354"/>
            <a:ext cx="3361116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Za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enake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kompetence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se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uporabljajo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različni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izrazi</a:t>
            </a:r>
            <a:endParaRPr lang="en-SI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9" name="Google Shape;309;p32"/>
          <p:cNvSpPr txBox="1">
            <a:spLocks noGrp="1"/>
          </p:cNvSpPr>
          <p:nvPr>
            <p:ph type="title" idx="14"/>
          </p:nvPr>
        </p:nvSpPr>
        <p:spPr>
          <a:xfrm>
            <a:off x="5028527" y="3470504"/>
            <a:ext cx="581700" cy="5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15"/>
          </p:nvPr>
        </p:nvSpPr>
        <p:spPr>
          <a:xfrm>
            <a:off x="5859521" y="2704297"/>
            <a:ext cx="22962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Oglase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je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težko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primerjat</a:t>
            </a:r>
            <a:endParaRPr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Google Shape;302;p32">
            <a:extLst>
              <a:ext uri="{FF2B5EF4-FFF2-40B4-BE49-F238E27FC236}">
                <a16:creationId xmlns:a16="http://schemas.microsoft.com/office/drawing/2014/main" id="{A55B5B0A-9A41-03E5-B50C-66E9BD2B8A6C}"/>
              </a:ext>
            </a:extLst>
          </p:cNvPr>
          <p:cNvSpPr txBox="1">
            <a:spLocks/>
          </p:cNvSpPr>
          <p:nvPr/>
        </p:nvSpPr>
        <p:spPr>
          <a:xfrm>
            <a:off x="1422146" y="1782354"/>
            <a:ext cx="2978404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9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fontAlgn="base"/>
            <a:r>
              <a:rPr lang="en-US" sz="1600" dirty="0">
                <a:latin typeface="Poppins" panose="020B0502040204020203" pitchFamily="2" charset="0"/>
                <a:cs typeface="Poppins" panose="020B0502040204020203" pitchFamily="2" charset="0"/>
              </a:rPr>
              <a:t>	</a:t>
            </a:r>
            <a:r>
              <a:rPr lang="en-US" sz="1600" dirty="0" err="1">
                <a:latin typeface="Poppins" panose="020B0502040204020203" pitchFamily="2" charset="0"/>
                <a:cs typeface="Poppins" panose="020B0502040204020203" pitchFamily="2" charset="0"/>
              </a:rPr>
              <a:t>Oglasi</a:t>
            </a:r>
            <a:r>
              <a:rPr lang="en-US" sz="1600" dirty="0">
                <a:latin typeface="Poppins" panose="020B0502040204020203" pitchFamily="2" charset="0"/>
                <a:cs typeface="Poppins" panose="020B0502040204020203" pitchFamily="2" charset="0"/>
              </a:rPr>
              <a:t> so </a:t>
            </a:r>
            <a:r>
              <a:rPr lang="en-US" sz="1600" dirty="0" err="1">
                <a:latin typeface="Poppins" panose="020B0502040204020203" pitchFamily="2" charset="0"/>
                <a:cs typeface="Poppins" panose="020B0502040204020203" pitchFamily="2" charset="0"/>
              </a:rPr>
              <a:t>razpr</a:t>
            </a:r>
            <a:r>
              <a:rPr lang="en-GB" sz="1600" dirty="0" err="1">
                <a:latin typeface="Poppins" panose="020B0502040204020203" pitchFamily="2" charset="0"/>
                <a:cs typeface="Poppins" panose="020B0502040204020203" pitchFamily="2" charset="0"/>
              </a:rPr>
              <a:t>šeni</a:t>
            </a:r>
            <a:r>
              <a:rPr lang="en-GB" sz="1600" dirty="0">
                <a:latin typeface="Poppins" panose="020B0502040204020203" pitchFamily="2" charset="0"/>
                <a:cs typeface="Poppins" panose="020B0502040204020203" pitchFamily="2" charset="0"/>
              </a:rPr>
              <a:t> po </a:t>
            </a:r>
            <a:r>
              <a:rPr lang="en-GB" sz="1600" dirty="0" err="1">
                <a:latin typeface="Poppins" panose="020B0502040204020203" pitchFamily="2" charset="0"/>
                <a:cs typeface="Poppins" panose="020B0502040204020203" pitchFamily="2" charset="0"/>
              </a:rPr>
              <a:t>različnih</a:t>
            </a:r>
            <a:r>
              <a:rPr lang="en-GB" sz="1600" dirty="0">
                <a:latin typeface="Poppins" panose="020B0502040204020203" pitchFamily="2" charset="0"/>
                <a:cs typeface="Poppins" panose="020B0502040204020203" pitchFamily="2" charset="0"/>
              </a:rPr>
              <a:t> </a:t>
            </a:r>
            <a:r>
              <a:rPr lang="en-GB" sz="1600" dirty="0" err="1">
                <a:latin typeface="Poppins" panose="020B0502040204020203" pitchFamily="2" charset="0"/>
                <a:cs typeface="Poppins" panose="020B0502040204020203" pitchFamily="2" charset="0"/>
              </a:rPr>
              <a:t>portalih</a:t>
            </a:r>
            <a:endParaRPr lang="en-SI" sz="1600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5" name="Google Shape;310;p32">
            <a:extLst>
              <a:ext uri="{FF2B5EF4-FFF2-40B4-BE49-F238E27FC236}">
                <a16:creationId xmlns:a16="http://schemas.microsoft.com/office/drawing/2014/main" id="{41AF7E6D-85CD-DFCC-2735-946D628EA588}"/>
              </a:ext>
            </a:extLst>
          </p:cNvPr>
          <p:cNvSpPr txBox="1">
            <a:spLocks/>
          </p:cNvSpPr>
          <p:nvPr/>
        </p:nvSpPr>
        <p:spPr>
          <a:xfrm>
            <a:off x="5866570" y="3732598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9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 SemiBold"/>
              <a:buNone/>
              <a:defRPr sz="1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pPr marL="0" indent="0">
              <a:buSzPts val="1100"/>
            </a:pP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Iskanje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zahteva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veliko</a:t>
            </a:r>
            <a:r>
              <a:rPr lang="en-SI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I" sz="1600" dirty="0" err="1">
                <a:latin typeface="Poppins" panose="00000500000000000000" pitchFamily="2" charset="0"/>
                <a:cs typeface="Poppins" panose="00000500000000000000" pitchFamily="2" charset="0"/>
              </a:rPr>
              <a:t>časa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09B2BAEF-66AF-5090-35F6-E42D6139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>
            <a:extLst>
              <a:ext uri="{FF2B5EF4-FFF2-40B4-BE49-F238E27FC236}">
                <a16:creationId xmlns:a16="http://schemas.microsoft.com/office/drawing/2014/main" id="{57093E80-75A2-04E1-9F50-D49A36F46D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/>
              <a:t>Ena pametna platforma</a:t>
            </a:r>
            <a:endParaRPr sz="3000" dirty="0"/>
          </a:p>
        </p:txBody>
      </p:sp>
      <p:sp>
        <p:nvSpPr>
          <p:cNvPr id="333" name="Google Shape;333;p35">
            <a:extLst>
              <a:ext uri="{FF2B5EF4-FFF2-40B4-BE49-F238E27FC236}">
                <a16:creationId xmlns:a16="http://schemas.microsoft.com/office/drawing/2014/main" id="{7C8CABE8-940A-6EE5-F6F4-0F6564D381E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53411" y="1568798"/>
            <a:ext cx="3632840" cy="2296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Iskanje</a:t>
            </a:r>
            <a:r>
              <a:rPr lang="en-SI" sz="1600" dirty="0"/>
              <a:t> z </a:t>
            </a:r>
            <a:r>
              <a:rPr lang="en-SI" sz="1600" dirty="0" err="1"/>
              <a:t>običajnim</a:t>
            </a:r>
            <a:r>
              <a:rPr lang="en-SI" sz="1600" dirty="0"/>
              <a:t> </a:t>
            </a:r>
            <a:r>
              <a:rPr lang="en-SI" sz="1600" dirty="0" err="1"/>
              <a:t>stavkom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Iskanje</a:t>
            </a:r>
            <a:r>
              <a:rPr lang="en-SI" sz="1600" dirty="0"/>
              <a:t> </a:t>
            </a:r>
            <a:r>
              <a:rPr lang="en-SI" sz="1600" dirty="0" err="1"/>
              <a:t>na</a:t>
            </a:r>
            <a:r>
              <a:rPr lang="en-SI" sz="1600" dirty="0"/>
              <a:t> </a:t>
            </a:r>
            <a:r>
              <a:rPr lang="en-SI" sz="1600" dirty="0" err="1"/>
              <a:t>podlagi</a:t>
            </a:r>
            <a:r>
              <a:rPr lang="en-SI" sz="1600" dirty="0"/>
              <a:t> CV-</a:t>
            </a:r>
            <a:r>
              <a:rPr lang="en-SI" sz="1600" dirty="0" err="1"/>
              <a:t>ja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Oglasi</a:t>
            </a:r>
            <a:r>
              <a:rPr lang="en-SI" sz="1600" dirty="0"/>
              <a:t> </a:t>
            </a:r>
            <a:r>
              <a:rPr lang="en-SI" sz="1600" dirty="0" err="1"/>
              <a:t>iz</a:t>
            </a:r>
            <a:r>
              <a:rPr lang="en-SI" sz="1600" dirty="0"/>
              <a:t> </a:t>
            </a:r>
            <a:r>
              <a:rPr lang="en-SI" sz="1600" dirty="0" err="1"/>
              <a:t>več</a:t>
            </a:r>
            <a:r>
              <a:rPr lang="en-SI" sz="1600" dirty="0"/>
              <a:t> </a:t>
            </a:r>
            <a:r>
              <a:rPr lang="en-SI" sz="1600" dirty="0" err="1"/>
              <a:t>virov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Ocena</a:t>
            </a:r>
            <a:r>
              <a:rPr lang="en-SI" sz="1600" dirty="0"/>
              <a:t> </a:t>
            </a:r>
            <a:r>
              <a:rPr lang="en-SI" sz="1600" dirty="0" err="1"/>
              <a:t>plačnega</a:t>
            </a:r>
            <a:r>
              <a:rPr lang="en-SI" sz="1600" dirty="0"/>
              <a:t> </a:t>
            </a:r>
            <a:r>
              <a:rPr lang="en-SI" sz="1600" dirty="0" err="1"/>
              <a:t>razpona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Primerjava</a:t>
            </a:r>
            <a:r>
              <a:rPr lang="en-SI" sz="1600" dirty="0"/>
              <a:t> </a:t>
            </a:r>
            <a:r>
              <a:rPr lang="en-SI" sz="1600" dirty="0" err="1"/>
              <a:t>oglasov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Zemljevid</a:t>
            </a:r>
            <a:r>
              <a:rPr lang="en-SI" sz="1600" dirty="0"/>
              <a:t> </a:t>
            </a:r>
            <a:r>
              <a:rPr lang="en-SI" sz="1600" dirty="0" err="1"/>
              <a:t>zaposlitev</a:t>
            </a:r>
            <a:endParaRPr lang="en-SI" sz="1600" dirty="0"/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SI" sz="1600" dirty="0" err="1"/>
              <a:t>Analitika</a:t>
            </a:r>
            <a:r>
              <a:rPr lang="en-SI" sz="1600" dirty="0"/>
              <a:t> </a:t>
            </a:r>
            <a:r>
              <a:rPr lang="en-SI" sz="1600" dirty="0" err="1"/>
              <a:t>trga</a:t>
            </a:r>
            <a:r>
              <a:rPr lang="en-SI" sz="1600" dirty="0"/>
              <a:t> dela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F001B4-0F52-9E72-6124-C33DB4E71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74" y="1146104"/>
            <a:ext cx="5013328" cy="271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>
          <a:extLst>
            <a:ext uri="{FF2B5EF4-FFF2-40B4-BE49-F238E27FC236}">
              <a16:creationId xmlns:a16="http://schemas.microsoft.com/office/drawing/2014/main" id="{BA127E45-FBA0-DACC-678A-5F09A73B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206A1E-33EC-1BDA-1551-727100B72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57" y="501564"/>
            <a:ext cx="7246611" cy="407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6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>
          <a:extLst>
            <a:ext uri="{FF2B5EF4-FFF2-40B4-BE49-F238E27FC236}">
              <a16:creationId xmlns:a16="http://schemas.microsoft.com/office/drawing/2014/main" id="{36A9A385-C63F-E8A8-678D-C6D0CAC5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">
            <a:extLst>
              <a:ext uri="{FF2B5EF4-FFF2-40B4-BE49-F238E27FC236}">
                <a16:creationId xmlns:a16="http://schemas.microsoft.com/office/drawing/2014/main" id="{77894311-18C7-8162-C00E-5E945538FC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40550" y="2077508"/>
            <a:ext cx="4691700" cy="702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Demonstracija</a:t>
            </a:r>
            <a:endParaRPr dirty="0"/>
          </a:p>
        </p:txBody>
      </p:sp>
      <p:pic>
        <p:nvPicPr>
          <p:cNvPr id="449" name="Google Shape;449;p40">
            <a:extLst>
              <a:ext uri="{FF2B5EF4-FFF2-40B4-BE49-F238E27FC236}">
                <a16:creationId xmlns:a16="http://schemas.microsoft.com/office/drawing/2014/main" id="{5DB633B4-2421-988C-0672-3E9CAAB0C7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4" y="-348950"/>
            <a:ext cx="4929900" cy="3381900"/>
          </a:xfrm>
          <a:prstGeom prst="parallelogram">
            <a:avLst>
              <a:gd name="adj" fmla="val 93013"/>
            </a:avLst>
          </a:prstGeom>
          <a:noFill/>
          <a:ln>
            <a:noFill/>
          </a:ln>
        </p:spPr>
      </p:pic>
      <p:pic>
        <p:nvPicPr>
          <p:cNvPr id="450" name="Google Shape;450;p40">
            <a:extLst>
              <a:ext uri="{FF2B5EF4-FFF2-40B4-BE49-F238E27FC236}">
                <a16:creationId xmlns:a16="http://schemas.microsoft.com/office/drawing/2014/main" id="{168E94E5-7866-D19D-37D6-B0BC9403209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735723" y="458063"/>
            <a:ext cx="6732600" cy="68136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60BB01FA-AFA4-39D9-6D10-91D364DCA45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en-US" sz="2800" dirty="0">
                <a:hlinkClick r:id="rId5"/>
              </a:rPr>
              <a:t>https://jobsearchwith.me</a:t>
            </a:r>
            <a:endParaRPr lang="en-US" sz="2800" dirty="0"/>
          </a:p>
          <a:p>
            <a:endParaRPr lang="en-SI" sz="2800" dirty="0"/>
          </a:p>
        </p:txBody>
      </p:sp>
    </p:spTree>
    <p:extLst>
      <p:ext uri="{BB962C8B-B14F-4D97-AF65-F5344CB8AC3E}">
        <p14:creationId xmlns:p14="http://schemas.microsoft.com/office/powerpoint/2010/main" val="326758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I" dirty="0" err="1"/>
              <a:t>Manj</a:t>
            </a:r>
            <a:r>
              <a:rPr lang="en-SI" dirty="0"/>
              <a:t> </a:t>
            </a:r>
            <a:r>
              <a:rPr lang="en-SI" dirty="0" err="1"/>
              <a:t>zavihkov</a:t>
            </a:r>
            <a:r>
              <a:rPr lang="en-SI" dirty="0"/>
              <a:t>. </a:t>
            </a:r>
            <a:r>
              <a:rPr lang="en-SI" dirty="0" err="1"/>
              <a:t>Več</a:t>
            </a:r>
            <a:r>
              <a:rPr lang="en-SI" dirty="0"/>
              <a:t> </a:t>
            </a:r>
            <a:r>
              <a:rPr lang="en-SI" dirty="0" err="1"/>
              <a:t>priložnost</a:t>
            </a:r>
            <a:endParaRPr sz="3200" dirty="0"/>
          </a:p>
        </p:txBody>
      </p:sp>
      <p:sp>
        <p:nvSpPr>
          <p:cNvPr id="473" name="Google Shape;473;p42"/>
          <p:cNvSpPr/>
          <p:nvPr/>
        </p:nvSpPr>
        <p:spPr>
          <a:xfrm flipH="1">
            <a:off x="283898" y="1802514"/>
            <a:ext cx="183300" cy="18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2"/>
          <p:cNvSpPr/>
          <p:nvPr/>
        </p:nvSpPr>
        <p:spPr>
          <a:xfrm flipH="1">
            <a:off x="293879" y="2971318"/>
            <a:ext cx="183300" cy="1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2"/>
          <p:cNvSpPr/>
          <p:nvPr/>
        </p:nvSpPr>
        <p:spPr>
          <a:xfrm flipH="1">
            <a:off x="283310" y="2436377"/>
            <a:ext cx="183300" cy="18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2"/>
          <p:cNvSpPr/>
          <p:nvPr/>
        </p:nvSpPr>
        <p:spPr>
          <a:xfrm flipH="1">
            <a:off x="293879" y="3640672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2"/>
          <p:cNvSpPr txBox="1"/>
          <p:nvPr/>
        </p:nvSpPr>
        <p:spPr>
          <a:xfrm flipH="1">
            <a:off x="477179" y="1670392"/>
            <a:ext cx="3254998" cy="31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Hitreje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oglasi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iz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več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virov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enem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mestu</a:t>
            </a:r>
            <a:endParaRPr lang="en-US"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477;p42">
            <a:extLst>
              <a:ext uri="{FF2B5EF4-FFF2-40B4-BE49-F238E27FC236}">
                <a16:creationId xmlns:a16="http://schemas.microsoft.com/office/drawing/2014/main" id="{0C056A6E-9ABE-658E-8354-C8E7225AF9CC}"/>
              </a:ext>
            </a:extLst>
          </p:cNvPr>
          <p:cNvSpPr txBox="1"/>
          <p:nvPr/>
        </p:nvSpPr>
        <p:spPr>
          <a:xfrm flipH="1">
            <a:off x="477179" y="2310977"/>
            <a:ext cx="4144221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Osebneje: predlogi glede na CV</a:t>
            </a:r>
            <a:endParaRPr lang="en-US"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Google Shape;477;p42">
            <a:extLst>
              <a:ext uri="{FF2B5EF4-FFF2-40B4-BE49-F238E27FC236}">
                <a16:creationId xmlns:a16="http://schemas.microsoft.com/office/drawing/2014/main" id="{7C62EA40-F8B4-179E-3BF8-3693AF293FEB}"/>
              </a:ext>
            </a:extLst>
          </p:cNvPr>
          <p:cNvSpPr txBox="1"/>
          <p:nvPr/>
        </p:nvSpPr>
        <p:spPr>
          <a:xfrm flipH="1">
            <a:off x="477179" y="2845918"/>
            <a:ext cx="4144221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Jasneje: primerjava ponudb in ocena plače</a:t>
            </a:r>
            <a:endParaRPr lang="en-US"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Google Shape;477;p42">
            <a:extLst>
              <a:ext uri="{FF2B5EF4-FFF2-40B4-BE49-F238E27FC236}">
                <a16:creationId xmlns:a16="http://schemas.microsoft.com/office/drawing/2014/main" id="{DE30382E-11BE-7152-871D-4B75B06C7CB5}"/>
              </a:ext>
            </a:extLst>
          </p:cNvPr>
          <p:cNvSpPr txBox="1"/>
          <p:nvPr/>
        </p:nvSpPr>
        <p:spPr>
          <a:xfrm flipH="1">
            <a:off x="466610" y="3502988"/>
            <a:ext cx="4144221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Pregledneje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zemljevid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priložnosti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analitika</a:t>
            </a:r>
            <a:r>
              <a:rPr lang="en-US" sz="160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trga</a:t>
            </a:r>
            <a:endParaRPr lang="en-US" sz="16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AEB1EB-584B-7F4F-D044-EAF5ADEF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715" y="3076595"/>
            <a:ext cx="4355451" cy="6982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C8CFA5-4B6A-9FF1-09AC-B872202B80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1"/>
          <a:stretch>
            <a:fillRect/>
          </a:stretch>
        </p:blipFill>
        <p:spPr>
          <a:xfrm>
            <a:off x="4250146" y="1486917"/>
            <a:ext cx="4355451" cy="19564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9F5E7D-754F-22BF-6566-0D3746CE1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146" y="3419049"/>
            <a:ext cx="4355451" cy="6982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A803498E-C5D4-BE0B-1981-C7124137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>
            <a:extLst>
              <a:ext uri="{FF2B5EF4-FFF2-40B4-BE49-F238E27FC236}">
                <a16:creationId xmlns:a16="http://schemas.microsoft.com/office/drawing/2014/main" id="{58D5B01E-85DF-8A79-E5EB-FBDA4B6CE6C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7112" y="1587146"/>
            <a:ext cx="3825152" cy="24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Hvala za </a:t>
            </a:r>
            <a:r>
              <a:rPr lang="en-US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pozornost</a:t>
            </a:r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 !</a:t>
            </a:r>
            <a:endParaRPr dirty="0">
              <a:latin typeface="DM Sans" pitchFamily="2" charset="0"/>
            </a:endParaRPr>
          </a:p>
        </p:txBody>
      </p:sp>
      <p:pic>
        <p:nvPicPr>
          <p:cNvPr id="279" name="Google Shape;279;p30">
            <a:extLst>
              <a:ext uri="{FF2B5EF4-FFF2-40B4-BE49-F238E27FC236}">
                <a16:creationId xmlns:a16="http://schemas.microsoft.com/office/drawing/2014/main" id="{0F648A23-6831-F4E3-413E-92BF1FD203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989866" y="93650"/>
            <a:ext cx="6732675" cy="6813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>
            <a:extLst>
              <a:ext uri="{FF2B5EF4-FFF2-40B4-BE49-F238E27FC236}">
                <a16:creationId xmlns:a16="http://schemas.microsoft.com/office/drawing/2014/main" id="{82326838-5F64-46A8-438B-4DBB13162B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264" y="-348950"/>
            <a:ext cx="4929803" cy="338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30">
            <a:extLst>
              <a:ext uri="{FF2B5EF4-FFF2-40B4-BE49-F238E27FC236}">
                <a16:creationId xmlns:a16="http://schemas.microsoft.com/office/drawing/2014/main" id="{7480106C-E128-D980-83E5-527659CC7A7A}"/>
              </a:ext>
            </a:extLst>
          </p:cNvPr>
          <p:cNvGrpSpPr/>
          <p:nvPr/>
        </p:nvGrpSpPr>
        <p:grpSpPr>
          <a:xfrm>
            <a:off x="3803900" y="538898"/>
            <a:ext cx="2304239" cy="3889252"/>
            <a:chOff x="3803900" y="538898"/>
            <a:chExt cx="2304239" cy="3889252"/>
          </a:xfrm>
        </p:grpSpPr>
        <p:pic>
          <p:nvPicPr>
            <p:cNvPr id="282" name="Google Shape;282;p30">
              <a:extLst>
                <a:ext uri="{FF2B5EF4-FFF2-40B4-BE49-F238E27FC236}">
                  <a16:creationId xmlns:a16="http://schemas.microsoft.com/office/drawing/2014/main" id="{256BBA5F-6616-E9C0-1496-93FBFEE3EF08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03900" y="3693851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0">
              <a:extLst>
                <a:ext uri="{FF2B5EF4-FFF2-40B4-BE49-F238E27FC236}">
                  <a16:creationId xmlns:a16="http://schemas.microsoft.com/office/drawing/2014/main" id="{F4E4F768-5DAA-B17C-995B-5C3F63A14F3A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571963" y="538898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4" name="Google Shape;284;p30">
            <a:extLst>
              <a:ext uri="{FF2B5EF4-FFF2-40B4-BE49-F238E27FC236}">
                <a16:creationId xmlns:a16="http://schemas.microsoft.com/office/drawing/2014/main" id="{7B117F88-2B21-4DED-986D-CCD1A123D00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700000">
            <a:off x="8702417" y="3750580"/>
            <a:ext cx="645199" cy="11702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3502222"/>
      </p:ext>
    </p:extLst>
  </p:cSld>
  <p:clrMapOvr>
    <a:masterClrMapping/>
  </p:clrMapOvr>
</p:sld>
</file>

<file path=ppt/theme/theme1.xml><?xml version="1.0" encoding="utf-8"?>
<a:theme xmlns:a="http://schemas.openxmlformats.org/drawingml/2006/main" name="Monthly Performance Review Meeting by Slidesgo">
  <a:themeElements>
    <a:clrScheme name="Simple Light">
      <a:dk1>
        <a:srgbClr val="351C75"/>
      </a:dk1>
      <a:lt1>
        <a:srgbClr val="FFFFFF"/>
      </a:lt1>
      <a:dk2>
        <a:srgbClr val="847CC3"/>
      </a:dk2>
      <a:lt2>
        <a:srgbClr val="9B97E1"/>
      </a:lt2>
      <a:accent1>
        <a:srgbClr val="D5D4FE"/>
      </a:accent1>
      <a:accent2>
        <a:srgbClr val="DADAFF"/>
      </a:accent2>
      <a:accent3>
        <a:srgbClr val="E7E4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1C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498</Words>
  <Application>Microsoft Office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Wingdings</vt:lpstr>
      <vt:lpstr>Poppins</vt:lpstr>
      <vt:lpstr>Poppins SemiBold</vt:lpstr>
      <vt:lpstr>Arial</vt:lpstr>
      <vt:lpstr>DM Sans</vt:lpstr>
      <vt:lpstr>Monthly Performance Review Meeting by Slidesgo</vt:lpstr>
      <vt:lpstr>JobRadar Pametni iskalnik zaposlitvenih priložnosti    </vt:lpstr>
      <vt:lpstr>Veliko oglasov. Nobene jasne odločitve.</vt:lpstr>
      <vt:lpstr>Ena pametna platforma</vt:lpstr>
      <vt:lpstr>PowerPoint Presentation</vt:lpstr>
      <vt:lpstr>Demonstracija</vt:lpstr>
      <vt:lpstr>Manj zavihkov. Več priložnost</vt:lpstr>
      <vt:lpstr>Hvala za pozornost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 Janeva</dc:creator>
  <cp:lastModifiedBy>Iva Janeva</cp:lastModifiedBy>
  <cp:revision>7</cp:revision>
  <dcterms:modified xsi:type="dcterms:W3CDTF">2026-06-10T22:17:28Z</dcterms:modified>
</cp:coreProperties>
</file>